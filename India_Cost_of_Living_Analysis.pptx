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642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Cost of Living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&amp; Prediction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Collection to Predictive Modelling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461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2848" y="324612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32461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77056" y="324612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877056" y="32461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41264" y="324612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541264" y="32461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05472" y="324612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7205472" y="32461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Numbeo Cost of Living Website  |  150 Indian Cities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Agenda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1682496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68680"/>
            <a:ext cx="1682496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058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150876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205740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2560320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Numbeo — 150 Indian cities, 50+ cost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48256" y="868680"/>
            <a:ext cx="1682496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48256" y="868680"/>
            <a:ext cx="1682496" cy="10972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2048256" y="10058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48256" y="150876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39696" y="205740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21408" y="2560320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renaming, feature engineering, imputation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22192" y="868680"/>
            <a:ext cx="1682496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22192" y="868680"/>
            <a:ext cx="1682496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3822192" y="10058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822192" y="150876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913632" y="205740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Visualisation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95344" y="2560320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scatter plots, rankings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96128" y="868680"/>
            <a:ext cx="1682496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96128" y="868680"/>
            <a:ext cx="1682496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5596128" y="10058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596128" y="150876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87568" y="205740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0" y="2560320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vs. Random Forest — salary prediction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0064" y="868680"/>
            <a:ext cx="1682496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70064" y="868680"/>
            <a:ext cx="168249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70064" y="10058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370064" y="150876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461504" y="205740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43216" y="2560320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segmentation into 3 affordability tiers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Data Collection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Numbeo for 150 Indian cities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— Numbeo Web Scrape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920240" cy="91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9611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804672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804672"/>
            <a:ext cx="1920240" cy="91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89611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331720" y="1627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804672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804672"/>
            <a:ext cx="192024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89611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343400" y="1627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804672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804672"/>
            <a:ext cx="192024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89611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355080" y="1627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After Imputation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3317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" y="23317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🍽️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23682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&amp; Dining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651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Inexpensive meal, Fast food, Cappuccino, Groceries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3317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23317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23682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Housing &amp; Rent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651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1-BHK city centre &amp; outside, 3-BHK, Price/m²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9067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9768" y="309067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4400" y="31272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4107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Electricity, Water, Internet, Mobile Plan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09067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18888" y="309067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🚌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03520" y="31272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4107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ticket, Monthly pass, Taxi, Fuel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84962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29768" y="38496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👶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14400" y="3886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Childcare &amp; Education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1696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Preschool, International school fees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84962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18888" y="38496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303520" y="3886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&amp; Finance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41696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salary, Mortgage interest rate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Data Cleaning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missing value treatment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1️⃣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344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Standardisation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spaces, replace special chars → snake_case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2️⃣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Selection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2258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raw cols → 12 meaningful features kept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64261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3️⃣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" y="2660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Indices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29169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Basket, Transport, Sports/Leisure, Childcare indices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30098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4️⃣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3319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 Imputation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575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imputer for numeric, Most-frequent for categorical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95935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5️⃣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3977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Affordability Ratios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" y="4233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SalaryToRent &amp; SalaryToMarket derived columns added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Feature Indices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371600"/>
            <a:ext cx="3840480" cy="685800"/>
          </a:xfrm>
          <a:prstGeom prst="rect">
            <a:avLst/>
          </a:prstGeom>
          <a:solidFill>
            <a:srgbClr val="F0F7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371600"/>
            <a:ext cx="73152" cy="685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Basket Index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1682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+ Bread + Rice + Eggs + Chicken + 6 Fruits/Veg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2176272"/>
            <a:ext cx="3840480" cy="685800"/>
          </a:xfrm>
          <a:prstGeom prst="rect">
            <a:avLst/>
          </a:prstGeom>
          <a:solidFill>
            <a:srgbClr val="F0F7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176272"/>
            <a:ext cx="73152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221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Transportation Index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0" y="2487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ticket + Monthly pass + Taxi (start + per km)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2980944"/>
            <a:ext cx="3840480" cy="685800"/>
          </a:xfrm>
          <a:prstGeom prst="rect">
            <a:avLst/>
          </a:prstGeom>
          <a:solidFill>
            <a:srgbClr val="F0F7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2980944"/>
            <a:ext cx="73152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026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 &amp; Leisure Index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+ Tennis court + Cinema ticket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3785616"/>
            <a:ext cx="3840480" cy="685800"/>
          </a:xfrm>
          <a:prstGeom prst="rect">
            <a:avLst/>
          </a:prstGeom>
          <a:solidFill>
            <a:srgbClr val="F0F7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785616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3831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Childcare Cost Index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0" y="4096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Preschool (monthly) + Int'l school (annual/12)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EDA &amp; Visualisation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 &amp; city rankings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175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Correlation Heatmap of Selected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" y="274320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" y="321868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5486400" y="822960"/>
            <a:ext cx="338328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5486400" y="822960"/>
            <a:ext cx="3383280" cy="91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1" name="Text 149"/>
          <p:cNvSpPr/>
          <p:nvPr/>
        </p:nvSpPr>
        <p:spPr>
          <a:xfrm>
            <a:off x="5577840" y="941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52" name="Text 150"/>
          <p:cNvSpPr/>
          <p:nvPr/>
        </p:nvSpPr>
        <p:spPr>
          <a:xfrm>
            <a:off x="5577840" y="1371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53" name="Text 151"/>
          <p:cNvSpPr/>
          <p:nvPr/>
        </p:nvSpPr>
        <p:spPr>
          <a:xfrm>
            <a:off x="5925312" y="1371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Meal ↔ 1-BHK Rent (0.48)</a:t>
            </a:r>
            <a:r>
              <a:rPr lang="en-US" sz="1000" dirty="0"/>
              <a:t> — Cities with expensive dining also have higher rents; both reflect overall urban cost level</a:t>
            </a:r>
            <a:endParaRPr lang="en-US" sz="950" dirty="0"/>
          </a:p>
        </p:txBody>
      </p:sp>
      <p:sp>
        <p:nvSpPr>
          <p:cNvPr id="154" name="Text 152"/>
          <p:cNvSpPr/>
          <p:nvPr/>
        </p:nvSpPr>
        <p:spPr>
          <a:xfrm>
            <a:off x="5577840" y="202996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55" name="Text 153"/>
          <p:cNvSpPr/>
          <p:nvPr/>
        </p:nvSpPr>
        <p:spPr>
          <a:xfrm>
            <a:off x="5925312" y="20299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Cappuccino ↔ Childcare (0.45)</a:t>
            </a:r>
            <a:r>
              <a:rPr lang="en-US" sz="1000" dirty="0"/>
              <a:t> — Premium lifestyle costs (coffee culture) co-exist with expensive childcare in the same cities.</a:t>
            </a:r>
            <a:endParaRPr lang="en-US" sz="950" dirty="0"/>
          </a:p>
        </p:txBody>
      </p:sp>
      <p:sp>
        <p:nvSpPr>
          <p:cNvPr id="156" name="Text 154"/>
          <p:cNvSpPr/>
          <p:nvPr/>
        </p:nvSpPr>
        <p:spPr>
          <a:xfrm>
            <a:off x="5577840" y="268833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157" name="Text 155"/>
          <p:cNvSpPr/>
          <p:nvPr/>
        </p:nvSpPr>
        <p:spPr>
          <a:xfrm>
            <a:off x="5925312" y="268833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1-BHK Rent ↔ Market Basket (0.46)</a:t>
            </a:r>
            <a:r>
              <a:rPr lang="en-US" sz="1000" dirty="0"/>
              <a:t> — Cities with high rent also have costlier groceries — affordability pressure hits on multiple fronts.</a:t>
            </a:r>
            <a:endParaRPr lang="en-US" sz="950" dirty="0"/>
          </a:p>
        </p:txBody>
      </p:sp>
      <p:sp>
        <p:nvSpPr>
          <p:cNvPr id="158" name="Text 156"/>
          <p:cNvSpPr/>
          <p:nvPr/>
        </p:nvSpPr>
        <p:spPr>
          <a:xfrm>
            <a:off x="5577840" y="334670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159" name="Text 157"/>
          <p:cNvSpPr/>
          <p:nvPr/>
        </p:nvSpPr>
        <p:spPr>
          <a:xfrm>
            <a:off x="5925312" y="334670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Broadband ↔ Salary (0.38)</a:t>
            </a:r>
            <a:r>
              <a:rPr lang="en-US" sz="1000" dirty="0"/>
              <a:t> — Better internet infrastructure is associated with higher-paying cities.</a:t>
            </a:r>
            <a:endParaRPr lang="en-US" sz="950" dirty="0"/>
          </a:p>
        </p:txBody>
      </p:sp>
      <p:sp>
        <p:nvSpPr>
          <p:cNvPr id="160" name="Text 158"/>
          <p:cNvSpPr/>
          <p:nvPr/>
        </p:nvSpPr>
        <p:spPr>
          <a:xfrm>
            <a:off x="5577840" y="400507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161" name="Text 159"/>
          <p:cNvSpPr/>
          <p:nvPr/>
        </p:nvSpPr>
        <p:spPr>
          <a:xfrm>
            <a:off x="5925312" y="40050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Salary (0.26–0.38 range)</a:t>
            </a:r>
            <a:r>
              <a:rPr lang="en-US" sz="1000" dirty="0"/>
              <a:t> has only moderate correlation with most features — meaning </a:t>
            </a:r>
            <a:r>
              <a:rPr lang="en-US" sz="1000" b="1" dirty="0"/>
              <a:t>salary alone doesn't explain cost of living</a:t>
            </a:r>
            <a:r>
              <a:rPr lang="en-US" sz="1000" dirty="0"/>
              <a:t>, which is why Linear Regression failed (R² = -0.377).</a:t>
            </a:r>
            <a:endParaRPr lang="en-US" sz="950" dirty="0"/>
          </a:p>
        </p:txBody>
      </p:sp>
      <p:pic>
        <p:nvPicPr>
          <p:cNvPr id="163" name="Picture 162">
            <a:extLst>
              <a:ext uri="{FF2B5EF4-FFF2-40B4-BE49-F238E27FC236}">
                <a16:creationId xmlns:a16="http://schemas.microsoft.com/office/drawing/2014/main" id="{9DED3271-65D6-CB06-3951-324C7598A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70" y="822960"/>
            <a:ext cx="4773544" cy="4071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Salary &amp; Rent Distributions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274320" y="4005072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4005072"/>
            <a:ext cx="64008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04164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— most cities cluster in ₹30K–₹50K band. A few metros like Hyderabad (₹1.14L) and Pune (₹1.1L) are outliers.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Rent: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between ₹5K–₹15K; Tier-2/3 cities offer rentals as low as ₹1.5K–₹5K.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501469-9F50-7683-C726-97EE9710B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804673"/>
            <a:ext cx="4297680" cy="3083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59A687-2997-D2F3-1D8F-2E6411FBA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3" y="804672"/>
            <a:ext cx="4195167" cy="30832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City Rankings: Salary &amp; Rent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B10A1D-0181-A03A-8184-10FE4C470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"/>
            <a:ext cx="4572000" cy="4485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9CF13B-EF05-A6E5-5B23-B8DF331A5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658367"/>
            <a:ext cx="4582431" cy="44851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Rent vs Salary Relationship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5852160" y="822960"/>
            <a:ext cx="3017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822960"/>
            <a:ext cx="301752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941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545336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1417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/>
              <a:t>Most Cities Cluster at Low Rent &amp; Moderate Salary</a:t>
            </a:r>
            <a:r>
              <a:rPr lang="en-US" sz="800" dirty="0"/>
              <a:t> The dense cluster between ₹0–₹15,000 rent and ₹20,000–₹50,000 salary shows that the majority of Indian Tier-2/3 cities share a very similar cost-salary profile with little variation.</a:t>
            </a:r>
          </a:p>
        </p:txBody>
      </p:sp>
      <p:sp>
        <p:nvSpPr>
          <p:cNvPr id="11" name="Shape 8"/>
          <p:cNvSpPr/>
          <p:nvPr/>
        </p:nvSpPr>
        <p:spPr>
          <a:xfrm>
            <a:off x="5989320" y="2203704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0756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/>
              <a:t>Weak Positive Relationship</a:t>
            </a:r>
            <a:r>
              <a:rPr lang="en-US" sz="800" dirty="0"/>
              <a:t> There is a loose upward trend — higher rent cities tend to offer slightly higher salaries — but the relationship is too scattered and non-linear to be reliably predicted, which is confirmed by the low correlation of 0.36 in the heatmap</a:t>
            </a:r>
          </a:p>
        </p:txBody>
      </p:sp>
      <p:sp>
        <p:nvSpPr>
          <p:cNvPr id="13" name="Shape 10"/>
          <p:cNvSpPr/>
          <p:nvPr/>
        </p:nvSpPr>
        <p:spPr>
          <a:xfrm>
            <a:off x="5989320" y="2862072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7340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/>
              <a:t>Best Affordability Cities (Top-Left Outliers)</a:t>
            </a:r>
            <a:r>
              <a:rPr lang="en-US" sz="800" dirty="0"/>
              <a:t> A few cities like Hyderabad and Pune show very high salaries (₹80K–₹1.1L) at relatively low-to-moderate rent (₹5K–₹25K), making them the most financially rewarding cities to live in.</a:t>
            </a:r>
          </a:p>
        </p:txBody>
      </p:sp>
      <p:sp>
        <p:nvSpPr>
          <p:cNvPr id="15" name="Shape 12"/>
          <p:cNvSpPr/>
          <p:nvPr/>
        </p:nvSpPr>
        <p:spPr>
          <a:xfrm>
            <a:off x="5989320" y="3520440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3924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/>
              <a:t>Worst Affordability City (Bottom-Right Outlier)</a:t>
            </a:r>
            <a:r>
              <a:rPr lang="en-US" sz="800" dirty="0"/>
              <a:t> The city at ₹60,000+ rent with only ~₹68,000 salary (likely Mumbai) represents the worst salary-to-rent ratio — residents pay extremely high rent without a proportional salary compensation.</a:t>
            </a:r>
          </a:p>
        </p:txBody>
      </p:sp>
      <p:sp>
        <p:nvSpPr>
          <p:cNvPr id="17" name="Shape 14"/>
          <p:cNvSpPr/>
          <p:nvPr/>
        </p:nvSpPr>
        <p:spPr>
          <a:xfrm>
            <a:off x="5989320" y="4178808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4178808"/>
            <a:ext cx="2468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/>
              <a:t>Wide Salary Variance at Similar Rent Levels</a:t>
            </a:r>
            <a:r>
              <a:rPr lang="en-US" sz="800" dirty="0"/>
              <a:t> Multiple cities share the same rent range (₹20K–₹27K) yet have salaries ranging from ₹35,000 to ₹1,10,000 — proving that rent alone cannot determine salary, which is exactly why Random Forest (R² = 0.799) outperformed Linear Regression (R² = -0.377).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9F2DD4-D858-936B-93F2-DAF55DF3A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04" y="823663"/>
            <a:ext cx="5400675" cy="41140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Training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vs Random Forest Regressor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 — Problem Setup &amp;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 Variable: </a:t>
            </a:r>
            <a:r>
              <a:rPr lang="en-US" sz="13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Monthly Net Salary (After Tax) — Regression Task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Features (10 predictors):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Meal (inexpensive restaurant)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45973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Cappuccino price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53512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5351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Basic utilities (85m²)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47288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44728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Broadband internet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41064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94106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1-BHK rent (city centre)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1965960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9659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Price/m² (outside centre)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2459736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45973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Market basket index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2953512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295351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 Transportation index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447288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344728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Sports &amp; leisure index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3941064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94106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 Childcare cost index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1572768"/>
            <a:ext cx="658368" cy="3383280"/>
          </a:xfrm>
          <a:prstGeom prst="rect">
            <a:avLst/>
          </a:prstGeom>
          <a:solidFill>
            <a:srgbClr val="F0F7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83880" y="1920240"/>
            <a:ext cx="7498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Results — Linear Regression vs Random Forest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1148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84048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64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02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-0.377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4048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14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7523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₹12,044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384048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64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502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Fit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failed: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does not have a linear relationship with cost-of-living features. Negative R² means the model performs worse than simply predicting the mean.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1480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22960"/>
            <a:ext cx="411480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with GridSearchCV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719072"/>
            <a:ext cx="384048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764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2002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0.799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468880"/>
            <a:ext cx="384048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514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27523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₹7,503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3218688"/>
            <a:ext cx="3840480" cy="59436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264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R²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3502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0.027 → 0.799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005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worked: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captures non-linear interactions between features. Hyperparameter tuning (n_estimators, max_depth) improved generalisation from CV R²=0.027 to final R²=0.799.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— Actual vs Predicted Salary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0" y="822960"/>
            <a:ext cx="246888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822960"/>
            <a:ext cx="2468880" cy="91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941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Summary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426464"/>
            <a:ext cx="2286000" cy="1362456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426464"/>
            <a:ext cx="189914" cy="1362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620256" y="1463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20256" y="1719072"/>
            <a:ext cx="2011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-0.377</a:t>
            </a:r>
          </a:p>
          <a:p>
            <a:pPr marL="0" indent="0">
              <a:buNone/>
            </a:pPr>
            <a:endParaRPr lang="en-US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₹12,044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10528" y="2834640"/>
            <a:ext cx="2286000" cy="1426464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8" name="Shape 15"/>
          <p:cNvSpPr/>
          <p:nvPr/>
        </p:nvSpPr>
        <p:spPr>
          <a:xfrm>
            <a:off x="6510528" y="2834640"/>
            <a:ext cx="171626" cy="14264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6620256" y="2903220"/>
            <a:ext cx="201168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 (tuned)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20256" y="3227832"/>
            <a:ext cx="2011680" cy="87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0.799   </a:t>
            </a:r>
          </a:p>
          <a:p>
            <a:pPr marL="0" indent="0">
              <a:buNone/>
            </a:pPr>
            <a:endParaRPr lang="en-US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₹7,503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92240" y="4389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(tuned) explains ~80% variance in salary — a strong predictive model for cost-of-living driven salary estimation.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79EB42-B680-6DB9-F10D-7ADFDDBFE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822960"/>
            <a:ext cx="606739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K-Means Clustering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150 cities into affordability tiers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 — Elbow Method &amp; Optimal 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5074920" y="822960"/>
            <a:ext cx="3794760" cy="40601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74920" y="822960"/>
            <a:ext cx="3794760" cy="9144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8" name="Text 5"/>
          <p:cNvSpPr/>
          <p:nvPr/>
        </p:nvSpPr>
        <p:spPr>
          <a:xfrm>
            <a:off x="5166360" y="941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Elbow Interpretation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12080" y="1444752"/>
            <a:ext cx="3520440" cy="685800"/>
          </a:xfrm>
          <a:prstGeom prst="rect">
            <a:avLst/>
          </a:prstGeom>
          <a:solidFill>
            <a:srgbClr val="C8E6F5"/>
          </a:solidFill>
          <a:ln/>
        </p:spPr>
      </p:sp>
      <p:sp>
        <p:nvSpPr>
          <p:cNvPr id="10" name="Shape 7"/>
          <p:cNvSpPr/>
          <p:nvPr/>
        </p:nvSpPr>
        <p:spPr>
          <a:xfrm>
            <a:off x="5212080" y="1444752"/>
            <a:ext cx="64008" cy="685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5340096" y="14904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40096" y="177393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separation — 2 distinct city tiers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12080" y="2267712"/>
            <a:ext cx="3520440" cy="685800"/>
          </a:xfrm>
          <a:prstGeom prst="rect">
            <a:avLst/>
          </a:prstGeom>
          <a:solidFill>
            <a:srgbClr val="C8E6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212080" y="2267712"/>
            <a:ext cx="64008" cy="685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2"/>
          <p:cNvSpPr/>
          <p:nvPr/>
        </p:nvSpPr>
        <p:spPr>
          <a:xfrm>
            <a:off x="5340096" y="23134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40096" y="259689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point — optimal balance of compactness &amp; granularity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12080" y="3090672"/>
            <a:ext cx="3520440" cy="6858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212080" y="3090672"/>
            <a:ext cx="64008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6"/>
          <p:cNvSpPr/>
          <p:nvPr/>
        </p:nvSpPr>
        <p:spPr>
          <a:xfrm>
            <a:off x="5340096" y="3136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&gt; 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40096" y="34198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— clusters overlap without adding clarity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212080" y="3822192"/>
            <a:ext cx="3520440" cy="834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model uses k=3 for meaningful city segmentation.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328244-6B81-1F1E-4E55-0A1A0A9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01" y="870586"/>
            <a:ext cx="4663271" cy="40125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 — City Tier Profiles (k = 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69748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9748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🏙️  Cluster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Premium Metros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Cities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Bangalore, Hyderabad, Pune, Navi Mumbai, Gurgaon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78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578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₹86,498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077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9077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₹32,175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2369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32369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₹1,144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566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₹1,298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2514600" cy="841248"/>
          </a:xfrm>
          <a:prstGeom prst="rect">
            <a:avLst/>
          </a:prstGeom>
          <a:solidFill>
            <a:srgbClr val="C8E6F5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68496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metros with highest incomes — but also the most expensive to live in. Suited for high earners.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36392" y="822960"/>
            <a:ext cx="269748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36392" y="822960"/>
            <a:ext cx="26974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3227832" y="822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🏬  Cluster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27832" y="13716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Major Cities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27832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Cities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27832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Ahmedabad, Chennai, Kolkata, Surat, Jaipur, Noida…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27832" y="2578608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578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07992" y="2578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₹37,143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27832" y="2907792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73552" y="29077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07992" y="29077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₹12,931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27832" y="3236976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73552" y="32369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07992" y="32369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₹1,001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27832" y="3566160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73552" y="3566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07992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₹1,338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27832" y="3950208"/>
            <a:ext cx="2514600" cy="841248"/>
          </a:xfrm>
          <a:prstGeom prst="rect">
            <a:avLst/>
          </a:prstGeom>
          <a:solidFill>
            <a:srgbClr val="C8E6F5"/>
          </a:solidFill>
          <a:ln/>
        </p:spPr>
      </p:sp>
      <p:sp>
        <p:nvSpPr>
          <p:cNvPr id="44" name="Text 42"/>
          <p:cNvSpPr/>
          <p:nvPr/>
        </p:nvSpPr>
        <p:spPr>
          <a:xfrm>
            <a:off x="3273552" y="3968496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secondary cities with moderate costs. Strong infrastructure but income is nearly 2.3× lower than Tier 1.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98464" y="822960"/>
            <a:ext cx="269748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98464" y="822960"/>
            <a:ext cx="269748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6089904" y="822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🏘️  Cluster 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089904" y="13716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Smaller Cities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089904" y="1691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Cities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89904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Lucknow, Meerut, Varanasi, Dhanbad, Jabalpur, Salem…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9904" y="2578608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52" name="Text 50"/>
          <p:cNvSpPr/>
          <p:nvPr/>
        </p:nvSpPr>
        <p:spPr>
          <a:xfrm>
            <a:off x="6135624" y="2578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70064" y="2578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₹37,142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89904" y="2907792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55" name="Text 53"/>
          <p:cNvSpPr/>
          <p:nvPr/>
        </p:nvSpPr>
        <p:spPr>
          <a:xfrm>
            <a:off x="6135624" y="29077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70064" y="29077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₹9,121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89904" y="3236976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58" name="Text 56"/>
          <p:cNvSpPr/>
          <p:nvPr/>
        </p:nvSpPr>
        <p:spPr>
          <a:xfrm>
            <a:off x="6135624" y="32369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70064" y="32369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₹865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89904" y="3566160"/>
            <a:ext cx="2514600" cy="2743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61" name="Text 59"/>
          <p:cNvSpPr/>
          <p:nvPr/>
        </p:nvSpPr>
        <p:spPr>
          <a:xfrm>
            <a:off x="6135624" y="3566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70064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₹1,120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089904" y="3950208"/>
            <a:ext cx="2514600" cy="841248"/>
          </a:xfrm>
          <a:prstGeom prst="rect">
            <a:avLst/>
          </a:prstGeom>
          <a:solidFill>
            <a:srgbClr val="C8E6F5"/>
          </a:solidFill>
          <a:ln/>
        </p:spPr>
      </p:sp>
      <p:sp>
        <p:nvSpPr>
          <p:cNvPr id="64" name="Text 62"/>
          <p:cNvSpPr/>
          <p:nvPr/>
        </p:nvSpPr>
        <p:spPr>
          <a:xfrm>
            <a:off x="6135624" y="3968496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Tier-3 cities — similar salaries to Tier 2 but significantly lower rent and market costs. Highest affordability ratio.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 — Salary vs rent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0" y="822960"/>
            <a:ext cx="2651760" cy="43205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822960"/>
            <a:ext cx="265176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941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Takeaways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367028"/>
            <a:ext cx="2377440" cy="672084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367028"/>
            <a:ext cx="54864" cy="6720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6419088" y="141732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/>
              <a:t>Cluster 0 (Premium Metros)</a:t>
            </a:r>
            <a:endParaRPr lang="en-US" sz="800" dirty="0"/>
          </a:p>
          <a:p>
            <a:r>
              <a:rPr lang="en-US" sz="800" dirty="0"/>
              <a:t>Highest salaries (₹60K–₹1.14L) and rents (₹21K–₹61K).</a:t>
            </a:r>
          </a:p>
          <a:p>
            <a:r>
              <a:rPr lang="en-US" sz="800" dirty="0"/>
              <a:t>Clearly separated, forming a distinct high‑cost, high‑income tier.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9360" y="2148840"/>
            <a:ext cx="2377440" cy="621792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9360" y="2148840"/>
            <a:ext cx="54864" cy="6217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6419088" y="214884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800" b="1" dirty="0"/>
          </a:p>
          <a:p>
            <a:r>
              <a:rPr lang="en-US" sz="800" b="1" dirty="0"/>
              <a:t>Cluster 1 (Major Tier‑2 Cities)</a:t>
            </a:r>
            <a:endParaRPr lang="en-US" sz="800" dirty="0"/>
          </a:p>
          <a:p>
            <a:r>
              <a:rPr lang="en-US" sz="800" dirty="0"/>
              <a:t>Salary range ₹20K–₹70K, rent ₹5K–₹25K.</a:t>
            </a:r>
          </a:p>
          <a:p>
            <a:r>
              <a:rPr lang="en-US" sz="800" dirty="0"/>
              <a:t>More spread and variation, showing diverse cost‑income combinations.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309360" y="2880360"/>
            <a:ext cx="2377440" cy="621792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0" y="2880360"/>
            <a:ext cx="54864" cy="6217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4"/>
          <p:cNvSpPr/>
          <p:nvPr/>
        </p:nvSpPr>
        <p:spPr>
          <a:xfrm>
            <a:off x="6419088" y="288036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/>
              <a:t>Cluster 2 (Smaller Tier‑3 Cities)</a:t>
            </a:r>
            <a:endParaRPr lang="en-US" sz="800" dirty="0"/>
          </a:p>
          <a:p>
            <a:r>
              <a:rPr lang="en-US" sz="800" dirty="0"/>
              <a:t>Low salaries (₹10K–₹45K) and very low rents (₹1K–₹15K).</a:t>
            </a:r>
          </a:p>
          <a:p>
            <a:r>
              <a:rPr lang="en-US" sz="800" dirty="0"/>
              <a:t>Densely packed, highly homogeneous low‑cost, low‑income profile.</a:t>
            </a:r>
          </a:p>
        </p:txBody>
      </p:sp>
      <p:sp>
        <p:nvSpPr>
          <p:cNvPr id="18" name="Shape 15"/>
          <p:cNvSpPr/>
          <p:nvPr/>
        </p:nvSpPr>
        <p:spPr>
          <a:xfrm>
            <a:off x="6309360" y="3611880"/>
            <a:ext cx="2377440" cy="621792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3611880"/>
            <a:ext cx="54864" cy="6217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6419088" y="361188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IN" sz="800" b="1" dirty="0"/>
          </a:p>
          <a:p>
            <a:r>
              <a:rPr lang="en-IN" sz="800" b="1" dirty="0"/>
              <a:t>Rent vs Salary Dynamics</a:t>
            </a:r>
            <a:endParaRPr lang="en-IN" sz="800" dirty="0"/>
          </a:p>
          <a:p>
            <a:r>
              <a:rPr lang="en-IN" sz="800" dirty="0"/>
              <a:t>In metros, rent rises faster than salary (rent ≈ 100% of income in extreme cases).</a:t>
            </a:r>
          </a:p>
          <a:p>
            <a:r>
              <a:rPr lang="en-IN" sz="800" dirty="0"/>
              <a:t>Smaller cities enjoy better salary‑to‑rent ratios (₹30K–₹40K salary vs ₹5K–₹10K rent).</a:t>
            </a:r>
          </a:p>
          <a:p>
            <a:pPr marL="0" indent="0">
              <a:buNone/>
            </a:pP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2197A34-BA9D-0D24-2FE6-803B5CE3F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5715000" cy="4023360"/>
          </a:xfrm>
          <a:prstGeom prst="rect">
            <a:avLst/>
          </a:prstGeom>
        </p:spPr>
      </p:pic>
      <p:sp>
        <p:nvSpPr>
          <p:cNvPr id="23" name="Shape 15">
            <a:extLst>
              <a:ext uri="{FF2B5EF4-FFF2-40B4-BE49-F238E27FC236}">
                <a16:creationId xmlns:a16="http://schemas.microsoft.com/office/drawing/2014/main" id="{17BD2DE6-DDFD-D440-3C33-3D81C0036E75}"/>
              </a:ext>
            </a:extLst>
          </p:cNvPr>
          <p:cNvSpPr/>
          <p:nvPr/>
        </p:nvSpPr>
        <p:spPr>
          <a:xfrm>
            <a:off x="6309360" y="4320539"/>
            <a:ext cx="2377440" cy="77196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r>
              <a:rPr lang="en-US" sz="800" b="1" dirty="0"/>
              <a:t>Validation of k=3</a:t>
            </a:r>
            <a:endParaRPr lang="en-US" sz="800" dirty="0"/>
          </a:p>
          <a:p>
            <a:r>
              <a:rPr lang="en-US" sz="800" dirty="0"/>
              <a:t>Clear separation of clusters with minimal overlap.</a:t>
            </a:r>
          </a:p>
          <a:p>
            <a:r>
              <a:rPr lang="en-US" sz="800" dirty="0"/>
              <a:t>Cluster 0 distinct; Clusters 1 &amp; 2 overlap slightly in lower salary range.</a:t>
            </a:r>
          </a:p>
          <a:p>
            <a:r>
              <a:rPr lang="en-US" sz="800" dirty="0"/>
              <a:t>Average salaries nearly identical (~₹37K), but rents differ significantly (~₹13K vs ~₹9K).</a:t>
            </a:r>
          </a:p>
          <a:p>
            <a:endParaRPr lang="en-IN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90E3D6E7-8F56-C0E1-7091-4D3AC1F4EBC1}"/>
              </a:ext>
            </a:extLst>
          </p:cNvPr>
          <p:cNvSpPr/>
          <p:nvPr/>
        </p:nvSpPr>
        <p:spPr>
          <a:xfrm>
            <a:off x="6326710" y="4318429"/>
            <a:ext cx="45719" cy="771965"/>
          </a:xfrm>
          <a:prstGeom prst="rect">
            <a:avLst/>
          </a:prstGeom>
          <a:solidFill>
            <a:srgbClr val="0E7C7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0" cy="105156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41148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4813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Indian cities × 50+ Numbeo features. Engineered 4 composite indices to reduce noise.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82312" y="1097280"/>
            <a:ext cx="4114800" cy="105156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1097280"/>
            <a:ext cx="41148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1887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Insight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14813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right-skewed (₹30–50K cluster). Rent ↔ Salary strongly correlated (0.71). Tier-1 cities expensive but high-paying.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331720"/>
            <a:ext cx="4114800" cy="105156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31720"/>
            <a:ext cx="41148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4231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71576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-0.377. Failed due to non-linear salary patterns. Cannot use linear assumptions for cost-driven salary prediction.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82312" y="2331720"/>
            <a:ext cx="4114800" cy="105156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2331720"/>
            <a:ext cx="41148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76672" y="24231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76672" y="271576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RF achieves R² = 0.799, RMSE ₹7,503. Non-linear feature interactions captured through ensemble learning.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566160"/>
            <a:ext cx="4114800" cy="105156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566160"/>
            <a:ext cx="41148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95020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optimal (elbow). Tier-1 (6 metro cities), Tier-2 (64 major cities), Tier-3 (80 smaller cities).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82312" y="3566160"/>
            <a:ext cx="4114800" cy="105156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82312" y="3566160"/>
            <a:ext cx="41148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76672" y="36576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76672" y="395020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Tier-3 cities offer best affordability (lowest rent, similar salary to Tier-2). Best for remote/cost-sensitive workers.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1675</Words>
  <Application>Microsoft Office PowerPoint</Application>
  <PresentationFormat>On-screen Show (16:9)</PresentationFormat>
  <Paragraphs>273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Cost of Living Analysis</dc:title>
  <dc:subject>PptxGenJS Presentation</dc:subject>
  <dc:creator>PptxGenJS</dc:creator>
  <cp:lastModifiedBy>Saish Kanade</cp:lastModifiedBy>
  <cp:revision>2</cp:revision>
  <dcterms:created xsi:type="dcterms:W3CDTF">2026-04-27T00:17:33Z</dcterms:created>
  <dcterms:modified xsi:type="dcterms:W3CDTF">2026-04-27T01:42:35Z</dcterms:modified>
</cp:coreProperties>
</file>